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70f3494c-24ad-6784-c4d7-1cd4de177a69}">
          <p14:sldIdLst>
            <p14:sldId id="256"/>
          </p14:sldIdLst>
        </p14:section>
        <p14:section name="Solución" id="{c164dcbc-3767-d268-8e01-61a522e5c70c}">
          <p14:sldIdLst>
            <p14:sldId id="257"/>
            <p14:sldId id="258"/>
            <p14:sldId id="259"/>
            <p14:sldId id="260"/>
          </p14:sldIdLst>
        </p14:section>
        <p14:section name="Datos" id="{8951eba5-828b-bcf4-4b55-a8ef365beb68}">
          <p14:sldIdLst>
            <p14:sldId id="261"/>
            <p14:sldId id="262"/>
            <p14:sldId id="263"/>
          </p14:sldIdLst>
        </p14:section>
        <p14:section name="Clientes" id="{74f75c01-6f62-ab63-3c01-454d9a296a43}">
          <p14:sldIdLst>
            <p14:sldId id="264"/>
            <p14:sldId id="265"/>
            <p14:sldId id="266"/>
            <p14:sldId id="267"/>
            <p14:sldId id="268"/>
          </p14:sldIdLst>
        </p14:section>
        <p14:section name="Calidad" id="{4253c4ed-f61c-2cbe-2094-7c35ab2931f5}">
          <p14:sldIdLst>
            <p14:sldId id="269"/>
            <p14:sldId id="270"/>
          </p14:sldIdLst>
        </p14:section>
        <p14:section name="Cierre" id="{a7139b5c-7445-40d3-8774-7bf91e3d2a7f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TG1.2: EurekaBank con un servicio SOAP en .NET, base de datos SQL Server y cuatro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reglas del banco y el acceso a datos están solo en el servidor; los clientes solo presentan.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niveles: clientes, servicio SOAP y base de datos. Ningún cliente toca SQL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IWSEureka, namespace http://espe.edu.ec/eureka/. Errores: SOAP Fault con ErrorServicio.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Petición, respuesta correcta y SOAP Fault cuando no alcanza el saldo.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del Ing. Eric Coronel; el servicio usa 7 de las 13 tablas.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ConexionBD lee Web.config una vez; cada operación abre su conexión del pool. Las operaciones de dinero son atómicas.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decisión responde a un riesgo concreto de un sistema bancario.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comprueba que el servicio y la base responden.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ClienteEureka es el mismo de la consola.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móvil arma el sobre SOAP con HttpClient y muestra el mensaje del 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servidor se publica en IIS (puerto 8087) y los clientes apuntan a la IP de Wi-Fi de esa 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la base recién creada; capturas de cada cliente en 05. DOCUMENTACIÓN/capturas.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82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82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 · Arquitectura de Software · EurekaBank SOAP .NET con SQL Server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$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TG1.2 · PAO 2026-51 · NRC 36884 · Grupo 1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EurekaBank · SOAP .NET con SQL Server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web SOAP para consultar cuentas y registrar depósitos, retiros y transferencias,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Wilmer Buestan · Jefferson Masapanta · Moises Benalcazar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04/11/2026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servicio, una base de datos, cuatro clientes</a:t>
            </a:r>
            <a:endParaRPr lang="en-US" sz="3400" dirty="0"/>
          </a:p>
        </p:txBody>
      </p:sp>
      <p:sp>
        <p:nvSpPr>
          <p:cNvPr id="4" name="Cifra 6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SOAP: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2 consultas 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transacciones</a:t>
            </a:r>
            <a:endParaRPr lang="en-US" sz="15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consola,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web y móvil</a:t>
            </a:r>
            <a:endParaRPr lang="en-US" sz="1500" dirty="0"/>
          </a:p>
        </p:txBody>
      </p:sp>
      <p:sp>
        <p:nvSpPr>
          <p:cNvPr id="10" name="Cifra 13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en SQL 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(modelo EurekaBank)</a:t>
            </a:r>
            <a:endParaRPr lang="en-US" sz="1500" dirty="0"/>
          </a:p>
        </p:txBody>
      </p:sp>
      <p:sp>
        <p:nvSpPr>
          <p:cNvPr id="13" name="Cifra 1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26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acceso a datos: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ConexionBD (Singleton)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cuentas de ahorro reales en SQL Server desde cualquier plataforma, con transacciones que mantienen siempre el saldo igual a sus movimientos.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7243" y="1234440"/>
            <a:ext cx="5092234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1.1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WCF basicHttpBinding en IIS :8087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ec.edu.monster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modelo · servicio · ws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EUREKABANK con el login monster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UPDLOCK + COMMIT / ROLLBACK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operaciones del servicio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10996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828800"/>
                <a:gridCol w="4160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Operación SOAP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Devuelve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En la base de datos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login(usuario, clave)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Empleado o Fault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SELECT Empleado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consultarCuenta(cuenta)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Cuenta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Cuenta + Cliente + Moneda + Sucursal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traerMovimientos(cuenta)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Movimiento[]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Movimiento + TipoMovimiento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registrarDeposito(cuenta,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nuevo saldo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UPDATE Cuenta · INSERT 003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registrarRetiro(cuenta,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nuevo saldo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valida saldo · UPDATE · INSERT 004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registrarTransferencia(origen, destino, importe, codEmpleado)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saldo origen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misma moneda · INSERT 009 y 008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206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→ ErrorServicio { Codigo, Mensaje }:   VALOR_INVALIDO  ·  REGLA_NEGOCIO  ·  ERROR_BD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6235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 8 dígitos · importe &gt; 0, máximo 2 decimales y hasta 1 000 000 · cuenta ACTIVO · saldo suficiente · misma moneda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viaja un retiro por SOAP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/WSEureka.svc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SOAPAction: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"http://espe.edu.ec/eureka/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WSEureka/registrarRetiro"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&lt;s:Envelope ...&gt;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&lt;s:Body&gt;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&lt;registrarRetiro xmlns=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"http://espe.edu.ec/eureka/"&gt;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&lt;cuenta&gt;00100001&lt;/cuenta&gt;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&lt;importe&gt;0.50&lt;/importe&gt;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&lt;codEmpleado&gt;0012&lt;/codEmpleado&gt;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&lt;/registrarRetiro&gt;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&lt;/s:Body&gt;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&lt;/s:Envelope&gt;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1887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&lt;registrarRetiroResponse&gt;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&lt;registrarRetiroResult&gt;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7000.0000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&lt;/registrarRetiroResult&gt;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Fault (importe 50000)</a:t>
            </a:r>
            <a:endParaRPr lang="en-US" sz="1800" dirty="0"/>
          </a:p>
        </p:txBody>
      </p:sp>
      <p:sp>
        <p:nvSpPr>
          <p:cNvPr id="11" name="Caja error"/>
          <p:cNvSpPr/>
          <p:nvPr/>
        </p:nvSpPr>
        <p:spPr>
          <a:xfrm>
            <a:off x="6400800" y="3657600"/>
            <a:ext cx="5212080" cy="2194560"/>
          </a:xfrm>
          <a:prstGeom prst="roundRect">
            <a:avLst>
              <a:gd name="adj" fmla="val 416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749040"/>
            <a:ext cx="5029200" cy="20116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&lt;s:Fault&gt;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&lt;faultcode&gt;s:Client&lt;/faultcode&gt;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&lt;detail&gt;&lt;ErrorServicio&gt;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&lt;Codigo&gt;REGLA_NEGOCIO&lt;/Codigo&gt;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&lt;Mensaje&gt;Saldo insuficiente en 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cuenta 00100001. Saldo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disponible: 7,000.50.&lt;/Mensaje&gt;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EUREKABANK</a:t>
            </a:r>
            <a:endParaRPr lang="en-US" sz="3400" dirty="0"/>
          </a:p>
        </p:txBody>
      </p:sp>
      <p:sp>
        <p:nvSpPr>
          <p:cNvPr id="4" name="Marco Modelo físico"/>
          <p:cNvSpPr/>
          <p:nvPr/>
        </p:nvSpPr>
        <p:spPr>
          <a:xfrm>
            <a:off x="512064" y="1910532"/>
            <a:ext cx="7936992" cy="3631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Modelo físico" descr="Modelo fís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7108"/>
            <a:ext cx="7863840" cy="355814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686800" y="1371600"/>
            <a:ext cx="30175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8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crear_bdd.ps1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Crea las tablas y restricciones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Datos de prueba + empleado monster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Login monster: solo lectura y escritura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cuentas · 38 movimientos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= ingresos − salidas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ec.edu.monster.db · Singleton y transacciones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ConexionBD (Singleton)</a:t>
            </a:r>
            <a:endParaRPr lang="en-US" sz="1800" dirty="0"/>
          </a:p>
        </p:txBody>
      </p:sp>
      <p:sp>
        <p:nvSpPr>
          <p:cNvPr id="5" name="Caja Singleton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ConexionBD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readonly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Lazy&lt;ConexionBD&gt; _instancia 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new Lazy&lt;ConexionBD&gt;(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() =&gt; new ConexionBD());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ConexionBD Instancia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_instancia.Value;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ConexionBD() { /* Web.config */ 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SqlConnection AbrirConexion()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... cn.Open(); return cn;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en una transacción</a:t>
            </a:r>
            <a:endParaRPr lang="en-US" sz="1800" dirty="0"/>
          </a:p>
        </p:txBody>
      </p:sp>
      <p:sp>
        <p:nvSpPr>
          <p:cNvPr id="8" name="Insignia 1"/>
          <p:cNvSpPr/>
          <p:nvPr/>
        </p:nvSpPr>
        <p:spPr>
          <a:xfrm>
            <a:off x="6400800" y="16916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 TRANSACTION</a:t>
            </a:r>
            <a:endParaRPr lang="en-US" sz="1500" dirty="0"/>
          </a:p>
        </p:txBody>
      </p:sp>
      <p:sp>
        <p:nvSpPr>
          <p:cNvPr id="11" name="Insignia 2"/>
          <p:cNvSpPr/>
          <p:nvPr/>
        </p:nvSpPr>
        <p:spPr>
          <a:xfrm>
            <a:off x="6400800" y="23774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377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… FROM Cuenta WITH (UPDLOCK)</a:t>
            </a:r>
            <a:endParaRPr lang="en-US" sz="1500" dirty="0"/>
          </a:p>
        </p:txBody>
      </p:sp>
      <p:sp>
        <p:nvSpPr>
          <p:cNvPr id="14" name="Insignia 3"/>
          <p:cNvSpPr/>
          <p:nvPr/>
        </p:nvSpPr>
        <p:spPr>
          <a:xfrm>
            <a:off x="6400800" y="30632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063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¿ACTIVO? ¿saldo ≥ importe?</a:t>
            </a:r>
            <a:endParaRPr lang="en-US" sz="1500" dirty="0"/>
          </a:p>
        </p:txBody>
      </p:sp>
      <p:sp>
        <p:nvSpPr>
          <p:cNvPr id="17" name="Insignia 4"/>
          <p:cNvSpPr/>
          <p:nvPr/>
        </p:nvSpPr>
        <p:spPr>
          <a:xfrm>
            <a:off x="6400800" y="37490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3749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Cuenta (saldo, contador + 1)</a:t>
            </a:r>
            <a:endParaRPr lang="en-US" sz="1500" dirty="0"/>
          </a:p>
        </p:txBody>
      </p:sp>
      <p:sp>
        <p:nvSpPr>
          <p:cNvPr id="20" name="Insignia 5"/>
          <p:cNvSpPr/>
          <p:nvPr/>
        </p:nvSpPr>
        <p:spPr>
          <a:xfrm>
            <a:off x="6400800" y="4434840"/>
            <a:ext cx="457200" cy="45720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4434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Movimiento 004</a:t>
            </a:r>
            <a:endParaRPr lang="en-US" sz="1500" dirty="0"/>
          </a:p>
        </p:txBody>
      </p:sp>
      <p:sp>
        <p:nvSpPr>
          <p:cNvPr id="23" name="Insignia 6"/>
          <p:cNvSpPr/>
          <p:nvPr/>
        </p:nvSpPr>
        <p:spPr>
          <a:xfrm>
            <a:off x="6400800" y="5120640"/>
            <a:ext cx="457200" cy="45720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5120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 ·  si falla: ROLLBACK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SQL monster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entra a SQL Server con permisos mínimos; igual en IIS Express e IIS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parametrizadas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concatena SQL: sin inyección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/ MONEY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Importes exactos de punta a punta, sin errores de redondeo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ordenado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transferencia bloquea las dos cuentas por código: sin bloqueo mutuo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rgbClr val="0D6EFD"/>
          </a:solidFill>
          <a:ln w="12700">
            <a:solidFill>
              <a:srgbClr val="0D6EF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código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VALOR_INVALIDO · REGLA_NEGOCIO · ERROR_BD con mensaje en español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 en cada movimiento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del empleado de la sesión queda en la base de datos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Framework 4.7.2 · ChannelFactory&lt;IWSEureka&gt;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clave oculta (los 3 intentos los cuenta el servidor)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Menú: movimientos, depósito, retiro y transferencia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antes de registrar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en verde, salidas en rojo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reglas del banco: las valida el servidor</a:t>
            </a:r>
            <a:endParaRPr lang="en-US" sz="1500" dirty="0"/>
          </a:p>
        </p:txBody>
      </p:sp>
      <p:sp>
        <p:nvSpPr>
          <p:cNvPr id="6" name="Marco Movimientos en la consola"/>
          <p:cNvSpPr/>
          <p:nvPr/>
        </p:nvSpPr>
        <p:spPr>
          <a:xfrm>
            <a:off x="4732083" y="1609344"/>
            <a:ext cx="6583555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ovimientos en la consola" descr="Movimientos en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8659" y="1645920"/>
            <a:ext cx="6510403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6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· .NET Framework 4.7.2 · modelos get/set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con color por operación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movimientos con saldo destacado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PanelOperacion para las tres operaciones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y nuevo saldo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error que envía el servidor</a:t>
            </a:r>
            <a:endParaRPr lang="en-US" sz="1500" dirty="0"/>
          </a:p>
        </p:txBody>
      </p:sp>
      <p:sp>
        <p:nvSpPr>
          <p:cNvPr id="6" name="Marco Escritorio: movimientos"/>
          <p:cNvSpPr/>
          <p:nvPr/>
        </p:nvSpPr>
        <p:spPr>
          <a:xfrm>
            <a:off x="4352544" y="1744239"/>
            <a:ext cx="7342632" cy="437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movimientos" descr="Escritorio: movimien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780815"/>
            <a:ext cx="7269480" cy="430221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· .NET 8 · System.ServiceModel.Http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 y vistas en ec/edu/monster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Sesión: sin login no se entra a /Banco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ClienteEureka con AddSingleton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transferencia"/>
          <p:cNvSpPr/>
          <p:nvPr/>
        </p:nvSpPr>
        <p:spPr>
          <a:xfrm>
            <a:off x="4352544" y="2209419"/>
            <a:ext cx="5468112" cy="344500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transferencia" descr="Web: transfer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45995"/>
            <a:ext cx="5394960" cy="3371850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9976104" y="2114374"/>
            <a:ext cx="1719072" cy="36350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2150950"/>
            <a:ext cx="1645920" cy="35619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(sucesor de Xamarin) · C# · Android · SOAP con HttpClient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menú, movimientos y operaciones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get/set llenados desde el XML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ClienteSoap y ControladorEureka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guardada en la app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una tablet Samsung SM-P610 (cable con adb reverse)</a:t>
            </a:r>
            <a:endParaRPr lang="en-US" sz="1500" dirty="0"/>
          </a:p>
        </p:txBody>
      </p:sp>
      <p:sp>
        <p:nvSpPr>
          <p:cNvPr id="6" name="Marco Móvil en la tablet"/>
          <p:cNvSpPr/>
          <p:nvPr/>
        </p:nvSpPr>
        <p:spPr>
          <a:xfrm>
            <a:off x="5815584" y="1609344"/>
            <a:ext cx="4416552" cy="2679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Móvil en la tablet" descr="Móvil en la tabl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645920"/>
            <a:ext cx="4343400" cy="2606040"/>
          </a:xfrm>
          <a:prstGeom prst="rect">
            <a:avLst/>
          </a:prstGeom>
        </p:spPr>
      </p:pic>
      <p:sp>
        <p:nvSpPr>
          <p:cNvPr id="8" name="Caja código móvil"/>
          <p:cNvSpPr/>
          <p:nvPr/>
        </p:nvSpPr>
        <p:spPr>
          <a:xfrm>
            <a:off x="4389120" y="4434840"/>
            <a:ext cx="7269480" cy="1783080"/>
          </a:xfrm>
          <a:prstGeom prst="roundRect">
            <a:avLst>
              <a:gd name="adj" fmla="val 5128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80560" y="4526280"/>
            <a:ext cx="7086600" cy="16002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XElement r = await InvocarAsync("login", ("usuario", u), ("clave", c));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new Empleado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Codigo = Texto(r, "Codigo"), Usuario = Texto(r, "Usuario"),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Nombre = Texto(r, "Nombre")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Fault -&gt; ErrorServicioException(&lt;Mensaje&gt; del servidor)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red por roles</a:t>
            </a:r>
            <a:endParaRPr lang="en-US" sz="3400" dirty="0"/>
          </a:p>
        </p:txBody>
      </p:sp>
      <p:sp>
        <p:nvSpPr>
          <p:cNvPr id="4" name="Rol 1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+ servidor + consola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Server, crear_bdd.ps1 y publicar_iis.ps1 (sitio EUREKA :8087)</a:t>
            </a:r>
            <a:endParaRPr lang="en-US" sz="1500" dirty="0"/>
          </a:p>
        </p:txBody>
      </p:sp>
      <p:sp>
        <p:nvSpPr>
          <p:cNvPr id="10" name="Rol 2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2"/>
          <p:cNvSpPr/>
          <p:nvPr/>
        </p:nvSpPr>
        <p:spPr>
          <a:xfrm>
            <a:off x="4526280" y="1600200"/>
            <a:ext cx="640080" cy="640080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escritorio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PC: App.config y appsettings.json con la IP del servidor</a:t>
            </a:r>
            <a:endParaRPr lang="en-US" sz="1500" dirty="0"/>
          </a:p>
        </p:txBody>
      </p:sp>
      <p:sp>
        <p:nvSpPr>
          <p:cNvPr id="16" name="Rol 3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3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42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2651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real por WiFi: URL del servidor en el login de la app</a:t>
            </a:r>
            <a:endParaRPr lang="en-US" sz="1500" dirty="0"/>
          </a:p>
        </p:txBody>
      </p:sp>
      <p:sp>
        <p:nvSpPr>
          <p:cNvPr id="22" name="Caja URL"/>
          <p:cNvSpPr/>
          <p:nvPr/>
        </p:nvSpPr>
        <p:spPr>
          <a:xfrm>
            <a:off x="548640" y="44348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" y="4526280"/>
            <a:ext cx="10927080" cy="8686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434840"/>
            <a:ext cx="11109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2E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http://IP-DEL-SERVIDOR:8087/WSEureka.svc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solo lo usa el servidor: los demás equipos no necesitan acceso a la base de datos.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386" y="1234440"/>
            <a:ext cx="6404588" cy="4983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cuenta y movimientos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Depósito, retiro y transferencia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y transferencia incluyen validar cuenta activa y saldo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es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82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F2F5F9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87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= suma de movimientos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Login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monster / monster69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Empleado 0012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Consultar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6,900.00 y 7 movimientos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Depósito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 · 100.50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Saldo 7,000.50 · mov. 003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Saldo insuficiente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Retiro 50000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REGLA_NEGOCIO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Cuenta cancelada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Retiro 00300001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está activa (CANCELADO)»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Transferencia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00200001 → 00200002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Mov. 009 y 008 enlazados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Monedas distintas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00100001 → 00100002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«misma moneda»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Más de 2 decimales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1.555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Servidor SOAP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cualquier operación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SOAP es el único que accede a SQL Server: cuatro plataformas comparten los mismos datos y reglas.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transacciones con UPDLOCK mantienen el saldo igual a sus movimientos, incluso con operaciones simultáneas.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Fault con código y mensaje en español explica cada rechazo en los cuatro clientes.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en ConexionBD, EurekaServicio y los clientes SOAP evita recursos duplicados.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EurekaBank SOAP .NET con BDD</dc:title>
  <dc:subject>PptxGenJS Presentation</dc:subject>
  <dc:creator>Grupo 1</dc:creator>
  <cp:lastModifiedBy>Grupo 1</cp:lastModifiedBy>
  <cp:revision>1</cp:revision>
  <dcterms:created xsi:type="dcterms:W3CDTF">2026-10-25T05:48:41Z</dcterms:created>
  <dcterms:modified xsi:type="dcterms:W3CDTF">2026-10-25T05:48:41Z</dcterms:modified>
</cp:coreProperties>
</file>