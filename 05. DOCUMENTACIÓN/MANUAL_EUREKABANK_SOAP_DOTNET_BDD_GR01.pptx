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98f8a069-595a-9148-dfae-97182765805c}">
          <p14:sldIdLst>
            <p14:sldId id="256"/>
          </p14:sldIdLst>
        </p14:section>
        <p14:section name="Solución" id="{9a41ea74-34b1-8991-27d4-da4419a9d3f5}">
          <p14:sldIdLst>
            <p14:sldId id="257"/>
            <p14:sldId id="258"/>
            <p14:sldId id="259"/>
            <p14:sldId id="260"/>
          </p14:sldIdLst>
        </p14:section>
        <p14:section name="Datos" id="{309aa941-635b-ead7-ddb0-7363eb386f8f}">
          <p14:sldIdLst>
            <p14:sldId id="261"/>
            <p14:sldId id="262"/>
            <p14:sldId id="263"/>
          </p14:sldIdLst>
        </p14:section>
        <p14:section name="Clientes" id="{7b7b5328-a10b-e26c-e746-d17787303cd5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17c9623b-4ebf-4f3f-c7d0-79169503f968}">
          <p14:sldIdLst>
            <p14:sldId id="269"/>
            <p14:sldId id="270"/>
          </p14:sldIdLst>
        </p14:section>
        <p14:section name="Cierre" id="{bb4d4acf-46d8-a556-466f-f0d5ae4447d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TG1.2: EurekaBank con un servicio SOAP en .NET, base de datos SQL Server y cuatro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del banco y el acceso a datos están solo en el servidor; los clientes solo presentan.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niveles: clientes, servicio SOAP y base de datos. Ningún cliente toca SQL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IWSEureka, namespace http://espe.edu.ec/eureka/. Errores: SOAP Fault con ErrorServicio.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Petición, respuesta correcta y SOAP Fault cuando no alcanza el saldo.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del Ing. Eric Coronel; el servicio usa 7 de las 13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ConexionBD lee Web.config una vez; cada operación abre su conexión del pool. Las operaciones de dinero son atómicas.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responde a un riesgo concreto de un sistema bancario.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comprueba que el servicio y la base responden.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ClienteEureka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móvil usa System.ServiceModel.Http con el proxy generado desde el WSDL.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se publica en IIS (puerto 8087) y los clientes apuntan a la IP de Wi-Fi de esa 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la base recién creada; capturas de cada cliente en 05. DOCUMENTACIÓN/capturas.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EurekaBank SOAP .NET con SQL Server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$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TG1.2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· SOAP .NET con SQL Server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web SOAP para consultar cuentas y registrar depósitos, retiros y transferencias,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04/11/2026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servicio, una base de datos, cuatro clientes</a:t>
            </a:r>
            <a:endParaRPr lang="en-US" sz="3400" dirty="0"/>
          </a:p>
        </p:txBody>
      </p:sp>
      <p:sp>
        <p:nvSpPr>
          <p:cNvPr id="4" name="Cifra 6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SOAP: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2 consultas 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transacciones</a:t>
            </a:r>
            <a:endParaRPr lang="en-US" sz="15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500" dirty="0"/>
          </a:p>
        </p:txBody>
      </p:sp>
      <p:sp>
        <p:nvSpPr>
          <p:cNvPr id="10" name="Cifra 13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SQL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(modelo EurekaBank)</a:t>
            </a:r>
            <a:endParaRPr lang="en-US" sz="1500" dirty="0"/>
          </a:p>
        </p:txBody>
      </p:sp>
      <p:sp>
        <p:nvSpPr>
          <p:cNvPr id="13" name="Cifra 1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acceso a datos: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cuentas de ahorro reales en SQL Server desde cualquier plataforma, con transacciones que mantienen siempre el saldo igual a sus movimientos.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243" y="1234440"/>
            <a:ext cx="5092234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1.1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WCF basicHttpBinding en IIS :8087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modelo · servicio · ws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con el login monster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UPDLOCK + COMMIT /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operaciones del servicio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828800"/>
                <a:gridCol w="4160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Operación SOAP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Devuelve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En la base de datos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login(usuario, clave)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Empleado o nil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SELECT Empleado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consultarCuenta(cuenta)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 + Cliente + Moneda + Sucursal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traerMovimientos(cuenta)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Movimiento[]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 + TipoMovimiento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registrarDeposito(cuenta,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UPDATE Cuenta · INSERT 003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registrarRetiro(cuenta,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valida saldo · UPDATE · INSERT 004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registrarTransferencia(origen, destino,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saldo origen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misma moneda · INSERT 009 y 008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206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→ ErrorServicio { Codigo, Mensaje }:   VALOR_INVALIDO  ·  REGLA_NEGOCIO  ·  ERROR_BD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8 dígitos · importe &gt; 0, máximo 2 decimales y hasta 1 000 000 · cuenta ACTIVO · saldo suficiente · misma moneda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 retiro por SOAP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/WSEureka.svc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SOAPAction: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"http://espe.edu.ec/eureka/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WSEureka/registrarRetiro"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&lt;s:Envelope ...&gt;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 xmlns=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"http://espe.edu.ec/eureka/"&gt;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&lt;cuenta&gt;00100001&lt;/cuenta&gt;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&lt;importe&gt;0.50&lt;/importe&gt;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&lt;codEmpleado&gt;0012&lt;/codEmpleado&gt;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&lt;/s:Body&gt;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&lt;/s:Envelope&gt;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1887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&lt;registrarRetiroResponse&gt;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&lt;registrarRetiroResult&gt;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7000.0000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&lt;/registrarRetiroResult&gt;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(importe 50000)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657600"/>
            <a:ext cx="5212080" cy="2194560"/>
          </a:xfrm>
          <a:prstGeom prst="roundRect">
            <a:avLst>
              <a:gd name="adj" fmla="val 41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749040"/>
            <a:ext cx="5029200" cy="2011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&lt;s:Fault&gt;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&lt;faultcode&gt;s:Client&lt;/faultcode&gt;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&lt;detail&gt;&lt;ErrorServicio&gt;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&lt;Codigo&gt;REGLA_NEGOCIO&lt;/Codigo&gt;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&lt;Mensaje&gt;Saldo insuficiente en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cuenta 00100001. Saldo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disponible: 7,000.50.&lt;/Mensaje&gt;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EUREKABANK</a:t>
            </a:r>
            <a:endParaRPr lang="en-US" sz="3400" dirty="0"/>
          </a:p>
        </p:txBody>
      </p:sp>
      <p:sp>
        <p:nvSpPr>
          <p:cNvPr id="4" name="Marco Modelo físico"/>
          <p:cNvSpPr/>
          <p:nvPr/>
        </p:nvSpPr>
        <p:spPr>
          <a:xfrm>
            <a:off x="512064" y="1910532"/>
            <a:ext cx="7936992" cy="3631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Modelo físico" descr="Modelo fís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7108"/>
            <a:ext cx="7863840" cy="3558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86800" y="137160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crear_bdd.ps1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Crea las tablas y restricciones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Datos de prueba + empleado monster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Login monster: solo lectura y escritura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cuentas · 38 movimientos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ingresos − salidas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ec.edu.monster.db · Singleton y transacciones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800" dirty="0"/>
          </a:p>
        </p:txBody>
      </p:sp>
      <p:sp>
        <p:nvSpPr>
          <p:cNvPr id="5" name="Caja Singleto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ConexionBD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Lazy&lt;ConexionBD&gt; _instancia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Lazy&lt;ConexionBD&gt;(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() =&gt; new ConexionBD());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ConexionBD Instancia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_instancia.Value;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ConexionBD() { /* Web.config */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SqlConnection AbrirConexion()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... cn.Open(); return cn;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en una transacción</a:t>
            </a:r>
            <a:endParaRPr lang="en-US" sz="1800" dirty="0"/>
          </a:p>
        </p:txBody>
      </p:sp>
      <p:sp>
        <p:nvSpPr>
          <p:cNvPr id="8" name="Insignia 1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TRANSACTION</a:t>
            </a:r>
            <a:endParaRPr lang="en-US" sz="1500" dirty="0"/>
          </a:p>
        </p:txBody>
      </p:sp>
      <p:sp>
        <p:nvSpPr>
          <p:cNvPr id="11" name="Insignia 2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… FROM Cuenta WITH (UPDLOCK)</a:t>
            </a:r>
            <a:endParaRPr lang="en-US" sz="1500" dirty="0"/>
          </a:p>
        </p:txBody>
      </p:sp>
      <p:sp>
        <p:nvSpPr>
          <p:cNvPr id="14" name="Insignia 3"/>
          <p:cNvSpPr/>
          <p:nvPr/>
        </p:nvSpPr>
        <p:spPr>
          <a:xfrm>
            <a:off x="6400800" y="30632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¿ACTIVO? ¿saldo ≥ importe?</a:t>
            </a:r>
            <a:endParaRPr lang="en-US" sz="1500" dirty="0"/>
          </a:p>
        </p:txBody>
      </p:sp>
      <p:sp>
        <p:nvSpPr>
          <p:cNvPr id="17" name="Insignia 4"/>
          <p:cNvSpPr/>
          <p:nvPr/>
        </p:nvSpPr>
        <p:spPr>
          <a:xfrm>
            <a:off x="6400800" y="37490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Cuenta (saldo, contador + 1)</a:t>
            </a:r>
            <a:endParaRPr lang="en-US" sz="1500" dirty="0"/>
          </a:p>
        </p:txBody>
      </p:sp>
      <p:sp>
        <p:nvSpPr>
          <p:cNvPr id="20" name="Insignia 5"/>
          <p:cNvSpPr/>
          <p:nvPr/>
        </p:nvSpPr>
        <p:spPr>
          <a:xfrm>
            <a:off x="6400800" y="44348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Movimiento 004</a:t>
            </a:r>
            <a:endParaRPr lang="en-US" sz="1500" dirty="0"/>
          </a:p>
        </p:txBody>
      </p:sp>
      <p:sp>
        <p:nvSpPr>
          <p:cNvPr id="23" name="Insignia 6"/>
          <p:cNvSpPr/>
          <p:nvPr/>
        </p:nvSpPr>
        <p:spPr>
          <a:xfrm>
            <a:off x="6400800" y="5120640"/>
            <a:ext cx="457200" cy="45720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 ·  si falla: ROLLBACK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SQL monster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entra a SQL Server con permisos mínimos; igual en IIS Express e IIS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parametrizadas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concatena SQL: sin inyección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/ MONEY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Importes exactos de punta a punta, sin errores de redondeo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ordenado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transferencia bloquea las dos cuentas por código: sin bloqueo mutuo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VALOR_INVALIDO · REGLA_NEGOCIO · ERROR_BD con mensaje en español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 en cada movimiento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del empleado de la sesión queda en la base de datos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proxy generado del WSDL (SvcUtil)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y 3 intentos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movimientos, 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antes de registrar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en verde, salidas en rojo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reglas del banco: las valida el servidor</a:t>
            </a:r>
            <a:endParaRPr lang="en-US" sz="1500" dirty="0"/>
          </a:p>
        </p:txBody>
      </p:sp>
      <p:sp>
        <p:nvSpPr>
          <p:cNvPr id="6" name="Marco Movimientos en la consola"/>
          <p:cNvSpPr/>
          <p:nvPr/>
        </p:nvSpPr>
        <p:spPr>
          <a:xfrm>
            <a:off x="4732083" y="1609344"/>
            <a:ext cx="6583555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ovimientos en la consola" descr="Movimientos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8659" y="1645920"/>
            <a:ext cx="6510403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proxy generado del WSDL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operación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movimientos con saldo destacado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PanelOperacion para las tres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nuevo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error que envía el servidor</a:t>
            </a:r>
            <a:endParaRPr lang="en-US" sz="1500" dirty="0"/>
          </a:p>
        </p:txBody>
      </p:sp>
      <p:sp>
        <p:nvSpPr>
          <p:cNvPr id="6" name="Marco Escritorio: movimientos"/>
          <p:cNvSpPr/>
          <p:nvPr/>
        </p:nvSpPr>
        <p:spPr>
          <a:xfrm>
            <a:off x="4352544" y="1744239"/>
            <a:ext cx="7342632" cy="437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movimientos" descr="Escritorio: movimi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80815"/>
            <a:ext cx="7269480" cy="43022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proxy generado con dotnet-svcutil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y vistas en ec/edu/monster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/Banco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ClienteEureka con AddSingleton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transferencia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transferencia" descr="Web: transfer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9976104" y="2114374"/>
            <a:ext cx="1719072" cy="36350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150950"/>
            <a:ext cx="1645920" cy="35619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proxy WCF del WSDL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menú, movimientos y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proxy de la web (dotnet-svcutil)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ClienteSoap y ControladorEureka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SM-P610 (cable con adb reverse)</a:t>
            </a:r>
            <a:endParaRPr lang="en-US" sz="1500" dirty="0"/>
          </a:p>
        </p:txBody>
      </p:sp>
      <p:sp>
        <p:nvSpPr>
          <p:cNvPr id="6" name="Marco Móvil en la tablet"/>
          <p:cNvSpPr/>
          <p:nvPr/>
        </p:nvSpPr>
        <p:spPr>
          <a:xfrm>
            <a:off x="5815584" y="1609344"/>
            <a:ext cx="4416552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óvil en la tablet" descr="Móvil en la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45920"/>
            <a:ext cx="4343400" cy="2606040"/>
          </a:xfrm>
          <a:prstGeom prst="rect">
            <a:avLst/>
          </a:prstGeom>
        </p:spPr>
      </p:pic>
      <p:sp>
        <p:nvSpPr>
          <p:cNvPr id="8" name="Caja código móvil"/>
          <p:cNvSpPr/>
          <p:nvPr/>
        </p:nvSpPr>
        <p:spPr>
          <a:xfrm>
            <a:off x="4389120" y="4434840"/>
            <a:ext cx="7269480" cy="1783080"/>
          </a:xfrm>
          <a:prstGeom prst="roundRect">
            <a:avLst>
              <a:gd name="adj" fmla="val 5128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80560" y="4526280"/>
            <a:ext cx="7086600" cy="16002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WSEurekaReference.cs: generado desde el WSDL con dotnet-svcutil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_fabrica = new ChannelFactory&lt;WSEureka&gt;(binding, new EndpointAddress(url));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WSEureka canal = _fabrica.CreateChannel();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Empleado? e = await canal.loginAsync(usuario, clave);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Fault -&gt; FaultException&lt;ErrorServicio&gt; -&gt; mensaje del servidor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+ servidor + consola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crear_bdd.ps1 y publicar_iis.ps1 (sitio EUREKA :8087)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4526280"/>
            <a:ext cx="10927080" cy="868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http://IP-DEL-SERVIDOR:8087/WSEureka.svc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solo lo usa el servidor: los demás equipos no necesitan acceso a la base de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6" y="1234440"/>
            <a:ext cx="6404588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cuenta y movimientos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y transferencia incluyen validar cuenta activa y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es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suma de movimientos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Empleado 0012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6,900.00 y 7 movimientos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Depósito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· 100.50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7,000.50 · mov. 003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insuficiente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50000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REGLA_NEGOCIO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Cuenta cancelada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00300001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está activa (CANCELADO)»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Transferencia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00200001 → 00200002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Mov. 009 y 008 enlazados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Monedas distintas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→ 00100002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«misma moneda»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Más de 2 decimales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1.555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SOAP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cualquier operación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SOAP es el único que accede a SQL Server: cuatro plataformas comparten los mismos datos y reglas.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transacciones con UPDLOCK mantienen el saldo igual a sus movimientos, incluso con operaciones simultáneas.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con código y mensaje en español explica cada rechazo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en ConexionBD, EurekaServicio y los clientes SOAP evita recursos duplicados.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EurekaBank SOAP .NET con BDD</dc:title>
  <dc:subject>PptxGenJS Presentation</dc:subject>
  <dc:creator>Grupo 1</dc:creator>
  <cp:lastModifiedBy>Grupo 1</cp:lastModifiedBy>
  <cp:revision>1</cp:revision>
  <dcterms:created xsi:type="dcterms:W3CDTF">2026-10-25T04:11:42Z</dcterms:created>
  <dcterms:modified xsi:type="dcterms:W3CDTF">2026-10-25T04:11:42Z</dcterms:modified>
</cp:coreProperties>
</file>